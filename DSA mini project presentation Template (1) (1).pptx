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8.png" ContentType="image/png"/>
  <Override PartName="/ppt/media/image3.jpeg" ContentType="image/jpeg"/>
  <Override PartName="/ppt/media/image4.jpeg" ContentType="image/jpeg"/>
  <Override PartName="/ppt/media/image11.png" ContentType="image/png"/>
  <Override PartName="/ppt/media/image5.jpeg" ContentType="image/jpeg"/>
  <Override PartName="/ppt/media/image7.png" ContentType="image/png"/>
  <Override PartName="/ppt/media/image6.png" ContentType="image/png"/>
  <Override PartName="/ppt/media/image9.png" ContentType="image/png"/>
  <Override PartName="/ppt/media/image10.png" ContentType="image/png"/>
  <Override PartName="/ppt/media/image12.png" ContentType="image/png"/>
  <Override PartName="/ppt/media/image13.png" ContentType="image/png"/>
  <Override PartName="/ppt/media/image1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9143280" cy="127692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276920"/>
              <a:gd name="textAreaBottom" fmla="*/ 1277640 h 1276920"/>
            </a:gdLst>
            <a:ahLst/>
            <a:cxnLst/>
            <a:rect l="textAreaLeft" t="textAreaTop" r="textAreaRight" b="textAreaBottom"/>
            <a:pathLst>
              <a:path w="9144000" h="1277620">
                <a:moveTo>
                  <a:pt x="9143999" y="1277099"/>
                </a:moveTo>
                <a:lnTo>
                  <a:pt x="0" y="1277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2770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5800" y="1594440"/>
            <a:ext cx="77716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8368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6EAE23-CEE1-4CAF-8421-1A9CC81F29D8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object 16" hidden="1"/>
          <p:cNvSpPr/>
          <p:nvPr/>
        </p:nvSpPr>
        <p:spPr>
          <a:xfrm>
            <a:off x="0" y="0"/>
            <a:ext cx="9143280" cy="127692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276920"/>
              <a:gd name="textAreaBottom" fmla="*/ 1277640 h 1276920"/>
            </a:gdLst>
            <a:ahLst/>
            <a:cxnLst/>
            <a:rect l="textAreaLeft" t="textAreaTop" r="textAreaRight" b="textAreaBottom"/>
            <a:pathLst>
              <a:path w="9144000" h="1277620">
                <a:moveTo>
                  <a:pt x="9143999" y="1277099"/>
                </a:moveTo>
                <a:lnTo>
                  <a:pt x="0" y="1277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2770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84480" y="1353960"/>
            <a:ext cx="3803040" cy="273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8368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CE8FA2-83E7-4305-8DD9-18B961A06DF3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 object 16"/>
          <p:cNvSpPr/>
          <p:nvPr/>
        </p:nvSpPr>
        <p:spPr>
          <a:xfrm>
            <a:off x="0" y="0"/>
            <a:ext cx="9143280" cy="127692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276920"/>
              <a:gd name="textAreaBottom" fmla="*/ 1277640 h 1276920"/>
            </a:gdLst>
            <a:ahLst/>
            <a:cxnLst/>
            <a:rect l="textAreaLeft" t="textAreaTop" r="textAreaRight" b="textAreaBottom"/>
            <a:pathLst>
              <a:path w="9144000" h="1277620">
                <a:moveTo>
                  <a:pt x="9143999" y="1277099"/>
                </a:moveTo>
                <a:lnTo>
                  <a:pt x="0" y="1277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2770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182960"/>
            <a:ext cx="3976920" cy="34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709160" y="1182960"/>
            <a:ext cx="3976920" cy="34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1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8368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4D3A60-27EC-426F-987F-8111DDBC1D67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6"/>
          <p:cNvSpPr/>
          <p:nvPr/>
        </p:nvSpPr>
        <p:spPr>
          <a:xfrm>
            <a:off x="0" y="0"/>
            <a:ext cx="9143280" cy="127692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276920"/>
              <a:gd name="textAreaBottom" fmla="*/ 1277640 h 1276920"/>
            </a:gdLst>
            <a:ahLst/>
            <a:cxnLst/>
            <a:rect l="textAreaLeft" t="textAreaTop" r="textAreaRight" b="textAreaBottom"/>
            <a:pathLst>
              <a:path w="9144000" h="1277620">
                <a:moveTo>
                  <a:pt x="9143999" y="1277099"/>
                </a:moveTo>
                <a:lnTo>
                  <a:pt x="0" y="1277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2770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8368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9211EE-5023-4AA9-9310-9F8ED503E4AF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 object 16"/>
          <p:cNvSpPr/>
          <p:nvPr/>
        </p:nvSpPr>
        <p:spPr>
          <a:xfrm>
            <a:off x="0" y="0"/>
            <a:ext cx="9143280" cy="127692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276920"/>
              <a:gd name="textAreaBottom" fmla="*/ 1277640 h 1276920"/>
            </a:gdLst>
            <a:ahLst/>
            <a:cxnLst/>
            <a:rect l="textAreaLeft" t="textAreaTop" r="textAreaRight" b="textAreaBottom"/>
            <a:pathLst>
              <a:path w="9144000" h="1277620">
                <a:moveTo>
                  <a:pt x="9143999" y="1277099"/>
                </a:moveTo>
                <a:lnTo>
                  <a:pt x="0" y="1277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2770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8368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82F83E-AB1A-42B0-98FC-838B24132E45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"/>
          <p:cNvSpPr/>
          <p:nvPr/>
        </p:nvSpPr>
        <p:spPr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object 3"/>
          <p:cNvGrpSpPr/>
          <p:nvPr/>
        </p:nvGrpSpPr>
        <p:grpSpPr>
          <a:xfrm>
            <a:off x="0" y="0"/>
            <a:ext cx="9144000" cy="4397760"/>
            <a:chOff x="0" y="0"/>
            <a:chExt cx="9144000" cy="4397760"/>
          </a:xfrm>
        </p:grpSpPr>
        <p:sp>
          <p:nvSpPr>
            <p:cNvPr id="30" name="object 4"/>
            <p:cNvSpPr/>
            <p:nvPr/>
          </p:nvSpPr>
          <p:spPr>
            <a:xfrm>
              <a:off x="0" y="0"/>
              <a:ext cx="9144000" cy="4397760"/>
            </a:xfrm>
            <a:custGeom>
              <a:avLst/>
              <a:gdLst>
                <a:gd name="textAreaLeft" fmla="*/ 0 w 9144000"/>
                <a:gd name="textAreaRight" fmla="*/ 9144720 w 9144000"/>
                <a:gd name="textAreaTop" fmla="*/ 0 h 4397760"/>
                <a:gd name="textAreaBottom" fmla="*/ 4398480 h 4397760"/>
              </a:gdLst>
              <a:ahLst/>
              <a:cxnLst/>
              <a:rect l="textAreaLeft" t="textAreaTop" r="textAreaRight" b="textAreaBottom"/>
              <a:pathLst>
                <a:path w="9144635" h="4398645">
                  <a:moveTo>
                    <a:pt x="0" y="4398099"/>
                  </a:moveTo>
                  <a:lnTo>
                    <a:pt x="0" y="0"/>
                  </a:lnTo>
                  <a:lnTo>
                    <a:pt x="9144249" y="0"/>
                  </a:lnTo>
                  <a:lnTo>
                    <a:pt x="9143999" y="1772849"/>
                  </a:lnTo>
                  <a:lnTo>
                    <a:pt x="0" y="439809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1" name="object 5" descr=""/>
            <p:cNvPicPr/>
            <p:nvPr/>
          </p:nvPicPr>
          <p:blipFill>
            <a:blip r:embed="rId1"/>
            <a:stretch/>
          </p:blipFill>
          <p:spPr>
            <a:xfrm>
              <a:off x="313560" y="410400"/>
              <a:ext cx="718200" cy="1159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2" name="object 6"/>
          <p:cNvSpPr/>
          <p:nvPr/>
        </p:nvSpPr>
        <p:spPr>
          <a:xfrm>
            <a:off x="4313160" y="1965960"/>
            <a:ext cx="4466520" cy="876600"/>
          </a:xfrm>
          <a:prstGeom prst="rect">
            <a:avLst/>
          </a:prstGeom>
          <a:noFill/>
          <a:ln w="9524">
            <a:solidFill>
              <a:srgbClr val="98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85680">
              <a:lnSpc>
                <a:spcPct val="100000"/>
              </a:lnSpc>
              <a:spcBef>
                <a:spcPts val="621"/>
              </a:spcBef>
            </a:pPr>
            <a:r>
              <a:rPr b="0" lang="en-IN" sz="1400" spc="-11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Div no :-D10B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>
              <a:lnSpc>
                <a:spcPct val="100000"/>
              </a:lnSpc>
              <a:spcBef>
                <a:spcPts val="621"/>
              </a:spcBef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>
              <a:lnSpc>
                <a:spcPct val="100000"/>
              </a:lnSpc>
              <a:spcBef>
                <a:spcPts val="621"/>
              </a:spcBef>
            </a:pPr>
            <a:r>
              <a:rPr b="0" lang="en-IN" sz="1400" spc="-11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ROLL NO :- 39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object 7"/>
          <p:cNvSpPr/>
          <p:nvPr/>
        </p:nvSpPr>
        <p:spPr>
          <a:xfrm>
            <a:off x="1270440" y="1225440"/>
            <a:ext cx="470520" cy="258480"/>
          </a:xfrm>
          <a:custGeom>
            <a:avLst/>
            <a:gdLst>
              <a:gd name="textAreaLeft" fmla="*/ 0 w 470520"/>
              <a:gd name="textAreaRight" fmla="*/ 471240 w 470520"/>
              <a:gd name="textAreaTop" fmla="*/ 0 h 258480"/>
              <a:gd name="textAreaBottom" fmla="*/ 259200 h 258480"/>
            </a:gdLst>
            <a:ahLst/>
            <a:cxnLst/>
            <a:rect l="textAreaLeft" t="textAreaTop" r="textAreaRight" b="textAreaBottom"/>
            <a:pathLst>
              <a:path w="471169" h="259080">
                <a:moveTo>
                  <a:pt x="471010" y="259079"/>
                </a:moveTo>
                <a:lnTo>
                  <a:pt x="0" y="259079"/>
                </a:lnTo>
                <a:lnTo>
                  <a:pt x="0" y="0"/>
                </a:lnTo>
                <a:lnTo>
                  <a:pt x="471010" y="0"/>
                </a:lnTo>
                <a:lnTo>
                  <a:pt x="471010" y="25907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bject 8"/>
          <p:cNvSpPr/>
          <p:nvPr/>
        </p:nvSpPr>
        <p:spPr>
          <a:xfrm>
            <a:off x="1257840" y="1204200"/>
            <a:ext cx="4957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700" spc="-11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Title: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9"/>
          <p:cNvSpPr/>
          <p:nvPr/>
        </p:nvSpPr>
        <p:spPr>
          <a:xfrm>
            <a:off x="313560" y="1895400"/>
            <a:ext cx="3760920" cy="950400"/>
          </a:xfrm>
          <a:prstGeom prst="rect">
            <a:avLst/>
          </a:prstGeom>
          <a:noFill/>
          <a:ln w="9524">
            <a:solidFill>
              <a:srgbClr val="98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8840" bIns="0" anchor="t">
            <a:spAutoFit/>
          </a:bodyPr>
          <a:p>
            <a:pPr marL="85680">
              <a:lnSpc>
                <a:spcPct val="100000"/>
              </a:lnSpc>
              <a:spcBef>
                <a:spcPts val="621"/>
              </a:spcBef>
            </a:pPr>
            <a:r>
              <a:rPr b="0" lang="en-IN" sz="1400" spc="-11" strike="noStrike" u="none">
                <a:solidFill>
                  <a:srgbClr val="980000"/>
                </a:solidFill>
                <a:effectLst/>
                <a:uFillTx/>
                <a:latin typeface="Arial MT"/>
              </a:rPr>
              <a:t>Domain: Data structure and algorithm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>
              <a:lnSpc>
                <a:spcPct val="100000"/>
              </a:lnSpc>
              <a:spcBef>
                <a:spcPts val="136"/>
              </a:spcBef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>
              <a:lnSpc>
                <a:spcPct val="100000"/>
              </a:lnSpc>
              <a:spcBef>
                <a:spcPts val="6"/>
              </a:spcBef>
            </a:pPr>
            <a:r>
              <a:rPr b="0" lang="en-IN" sz="1400" spc="-11" strike="noStrike" u="none">
                <a:solidFill>
                  <a:srgbClr val="980000"/>
                </a:solidFill>
                <a:effectLst/>
                <a:uFillTx/>
                <a:latin typeface="Arial MT"/>
              </a:rPr>
              <a:t>Member:Vinay motwani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090160" y="200520"/>
            <a:ext cx="5805000" cy="635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872640" indent="-860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Vivekanand</a:t>
            </a:r>
            <a:r>
              <a:rPr b="0" lang="en-IN" sz="20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Education</a:t>
            </a:r>
            <a:r>
              <a:rPr b="0" lang="en-IN" sz="2000" spc="-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Society’s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Institute</a:t>
            </a:r>
            <a:r>
              <a:rPr b="0" lang="en-IN" sz="20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Of</a:t>
            </a:r>
            <a:r>
              <a:rPr b="0" lang="en-IN" sz="2000" spc="-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Technology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</a:t>
            </a:r>
            <a:r>
              <a:rPr b="0" lang="en-IN" sz="2000" spc="-3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Of</a:t>
            </a:r>
            <a:r>
              <a:rPr b="0" lang="en-IN" sz="20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Information</a:t>
            </a:r>
            <a:r>
              <a:rPr b="0" lang="en-IN" sz="2000" spc="-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Technology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11"/>
          <p:cNvSpPr/>
          <p:nvPr/>
        </p:nvSpPr>
        <p:spPr>
          <a:xfrm>
            <a:off x="3563640" y="810360"/>
            <a:ext cx="1738440" cy="6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19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DSA</a:t>
            </a:r>
            <a:r>
              <a:rPr b="0" lang="en-IN" sz="1900" spc="-10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19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mini</a:t>
            </a:r>
            <a:r>
              <a:rPr b="0" lang="en-IN" sz="19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Project</a:t>
            </a: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IN" sz="1900" spc="-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A.Y.</a:t>
            </a:r>
            <a:r>
              <a:rPr b="0" lang="en-IN" sz="1900" spc="-45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19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2025-</a:t>
            </a:r>
            <a:r>
              <a:rPr b="0" lang="en-IN" sz="1900" spc="-26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26</a:t>
            </a:r>
            <a:endParaRPr b="0" lang="en-IN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object 12"/>
          <p:cNvSpPr/>
          <p:nvPr/>
        </p:nvSpPr>
        <p:spPr>
          <a:xfrm>
            <a:off x="1277640" y="1389240"/>
            <a:ext cx="2112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Sustainability</a:t>
            </a:r>
            <a:r>
              <a:rPr b="0" lang="en-IN" sz="2000" spc="-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Goal</a:t>
            </a:r>
            <a:r>
              <a:rPr b="0" lang="en-IN" sz="2000" spc="-1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2000" spc="-51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2" descr=""/>
          <p:cNvPicPr/>
          <p:nvPr/>
        </p:nvPicPr>
        <p:blipFill>
          <a:blip r:embed="rId1"/>
          <a:stretch/>
        </p:blipFill>
        <p:spPr>
          <a:xfrm>
            <a:off x="28440" y="2614680"/>
            <a:ext cx="9057600" cy="2499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" name="object 3"/>
          <p:cNvGrpSpPr/>
          <p:nvPr/>
        </p:nvGrpSpPr>
        <p:grpSpPr>
          <a:xfrm>
            <a:off x="28440" y="57240"/>
            <a:ext cx="9057600" cy="2499480"/>
            <a:chOff x="28440" y="57240"/>
            <a:chExt cx="9057600" cy="2499480"/>
          </a:xfrm>
        </p:grpSpPr>
        <p:pic>
          <p:nvPicPr>
            <p:cNvPr id="41" name="object 4" descr=""/>
            <p:cNvPicPr/>
            <p:nvPr/>
          </p:nvPicPr>
          <p:blipFill>
            <a:blip r:embed="rId2"/>
            <a:stretch/>
          </p:blipFill>
          <p:spPr>
            <a:xfrm>
              <a:off x="28440" y="57240"/>
              <a:ext cx="9057600" cy="249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object 5" descr=""/>
            <p:cNvPicPr/>
            <p:nvPr/>
          </p:nvPicPr>
          <p:blipFill>
            <a:blip r:embed="rId3"/>
            <a:stretch/>
          </p:blipFill>
          <p:spPr>
            <a:xfrm>
              <a:off x="5715000" y="1486080"/>
              <a:ext cx="1328040" cy="499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object 6" descr=""/>
            <p:cNvPicPr/>
            <p:nvPr/>
          </p:nvPicPr>
          <p:blipFill>
            <a:blip r:embed="rId4"/>
            <a:stretch/>
          </p:blipFill>
          <p:spPr>
            <a:xfrm>
              <a:off x="5729400" y="1986120"/>
              <a:ext cx="1313640" cy="428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4" name="object 7"/>
          <p:cNvSpPr/>
          <p:nvPr/>
        </p:nvSpPr>
        <p:spPr>
          <a:xfrm>
            <a:off x="2023200" y="1564200"/>
            <a:ext cx="335196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25560">
              <a:lnSpc>
                <a:spcPct val="100000"/>
              </a:lnSpc>
              <a:spcBef>
                <a:spcPts val="105"/>
              </a:spcBef>
            </a:pPr>
            <a:r>
              <a:rPr b="0" lang="en-IN" sz="2468" strike="noStrike" u="none" baseline="1000">
                <a:solidFill>
                  <a:srgbClr val="000000"/>
                </a:solidFill>
                <a:effectLst/>
                <a:uFillTx/>
                <a:latin typeface="Courier New"/>
              </a:rPr>
              <a:t>*uauudo</a:t>
            </a:r>
            <a:r>
              <a:rPr b="0" lang="en-IN" sz="2468" spc="-541" strike="noStrike" u="none" baseline="1000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b="0" lang="en-IN" sz="2468" spc="300" strike="noStrike" u="none" baseline="1000">
                <a:solidFill>
                  <a:srgbClr val="000000"/>
                </a:solidFill>
                <a:effectLst/>
                <a:uFillTx/>
                <a:latin typeface="Courier New"/>
              </a:rPr>
              <a:t>aoaQa</a:t>
            </a:r>
            <a:r>
              <a:rPr b="0" lang="en-IN" sz="2468" spc="-360" strike="noStrike" u="none" baseline="1000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b="0" lang="en-IN" sz="2468" spc="-14" strike="noStrike" u="none" baseline="10000">
                <a:solidFill>
                  <a:srgbClr val="000000"/>
                </a:solidFill>
                <a:effectLst/>
                <a:uFillTx/>
                <a:latin typeface="Courier New"/>
              </a:rPr>
              <a:t>q</a:t>
            </a:r>
            <a:r>
              <a:rPr b="0" lang="en-IN" sz="1650" spc="-11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e"!</a:t>
            </a:r>
            <a:r>
              <a:rPr b="0" lang="en-IN" sz="2618" spc="-14" strike="noStrike" u="none" baseline="-4000">
                <a:solidFill>
                  <a:srgbClr val="000000"/>
                </a:solidFill>
                <a:effectLst/>
                <a:uFillTx/>
                <a:latin typeface="Courier New"/>
              </a:rPr>
              <a:t>e</a:t>
            </a:r>
            <a:r>
              <a:rPr b="0" lang="en-IN" sz="1650" spc="-11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l</a:t>
            </a:r>
            <a:r>
              <a:rPr b="0" lang="en-IN" sz="1350" spc="-14" strike="noStrike" u="none" baseline="9000">
                <a:solidFill>
                  <a:srgbClr val="000000"/>
                </a:solidFill>
                <a:effectLst/>
                <a:uFillTx/>
                <a:latin typeface="Courier New"/>
              </a:rPr>
              <a:t>5</a:t>
            </a:r>
            <a:r>
              <a:rPr b="0" lang="en-IN" sz="1650" spc="-11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°S°°9</a:t>
            </a:r>
            <a:endParaRPr b="0" lang="en-IN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041920" y="1703520"/>
            <a:ext cx="3512160" cy="615960"/>
          </a:xfrm>
          <a:prstGeom prst="rect">
            <a:avLst/>
          </a:prstGeom>
          <a:noFill/>
          <a:ln w="0">
            <a:noFill/>
          </a:ln>
        </p:spPr>
        <p:txBody>
          <a:bodyPr lIns="0" rIns="0" tIns="14760" bIns="0" anchor="t">
            <a:spAutoFit/>
          </a:bodyPr>
          <a:p>
            <a:pPr marL="12600" indent="0">
              <a:lnSpc>
                <a:spcPct val="100000"/>
              </a:lnSpc>
              <a:spcBef>
                <a:spcPts val="113"/>
              </a:spcBef>
              <a:buNone/>
              <a:tabLst>
                <a:tab algn="l" pos="0"/>
              </a:tabLst>
            </a:pPr>
            <a:r>
              <a:rPr b="0" lang="en-IN" sz="3850" spc="-1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S1Ë0319B0153H1</a:t>
            </a:r>
            <a:endParaRPr b="0" lang="en-IN" sz="3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2"/>
          <p:cNvSpPr/>
          <p:nvPr/>
        </p:nvSpPr>
        <p:spPr>
          <a:xfrm>
            <a:off x="0" y="0"/>
            <a:ext cx="9143280" cy="127692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276920"/>
              <a:gd name="textAreaBottom" fmla="*/ 1277640 h 1276920"/>
            </a:gdLst>
            <a:ahLst/>
            <a:cxnLst/>
            <a:rect l="textAreaLeft" t="textAreaTop" r="textAreaRight" b="textAreaBottom"/>
            <a:pathLst>
              <a:path w="9144000" h="1277620">
                <a:moveTo>
                  <a:pt x="9143999" y="1277099"/>
                </a:moveTo>
                <a:lnTo>
                  <a:pt x="0" y="12770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277099"/>
                </a:lnTo>
                <a:close/>
              </a:path>
            </a:pathLst>
          </a:custGeom>
          <a:solidFill>
            <a:srgbClr val="3138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235800" bIns="0" anchor="t">
            <a:spAutoFit/>
          </a:bodyPr>
          <a:p>
            <a:pPr marL="24282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800" spc="150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Content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84480" y="1353960"/>
            <a:ext cx="3803040" cy="2554200"/>
          </a:xfrm>
          <a:prstGeom prst="rect">
            <a:avLst/>
          </a:prstGeom>
          <a:noFill/>
          <a:ln w="0">
            <a:noFill/>
          </a:ln>
        </p:spPr>
        <p:txBody>
          <a:bodyPr lIns="0" rIns="0" tIns="16560" bIns="0" anchor="t">
            <a:spAutoFit/>
          </a:bodyPr>
          <a:p>
            <a:pPr marL="469800" indent="-364320">
              <a:lnSpc>
                <a:spcPct val="100000"/>
              </a:lnSpc>
              <a:spcBef>
                <a:spcPts val="130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Introduction</a:t>
            </a:r>
            <a:r>
              <a:rPr b="1" lang="en-IN" sz="1100" spc="-3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to</a:t>
            </a:r>
            <a:r>
              <a:rPr b="1" lang="en-IN" sz="1100" spc="-3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Project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Problem</a:t>
            </a:r>
            <a:r>
              <a:rPr b="1" lang="en-IN" sz="1100" spc="-34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Statement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Objectives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of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Project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0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Scope</a:t>
            </a:r>
            <a:r>
              <a:rPr b="1" lang="en-IN" sz="1100" spc="-3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of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Project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Requirements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of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System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(Hardware,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Software)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ER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Diagram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of</a:t>
            </a:r>
            <a:r>
              <a:rPr b="1" lang="en-IN" sz="1100" spc="-14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Proposed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System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Data</a:t>
            </a:r>
            <a:r>
              <a:rPr b="1" lang="en-IN" sz="1100" spc="-3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Structure</a:t>
            </a:r>
            <a:r>
              <a:rPr b="1" lang="en-IN" sz="1100" spc="-3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&amp;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Concepts</a:t>
            </a:r>
            <a:r>
              <a:rPr b="1" lang="en-IN" sz="1100" spc="-3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2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Used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Algorithm</a:t>
            </a:r>
            <a:r>
              <a:rPr b="1" lang="en-IN" sz="1100" spc="-45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Explanation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364320">
              <a:lnSpc>
                <a:spcPct val="100000"/>
              </a:lnSpc>
              <a:spcBef>
                <a:spcPts val="230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Time</a:t>
            </a:r>
            <a:r>
              <a:rPr b="1" lang="en-IN" sz="1100" spc="-5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and</a:t>
            </a:r>
            <a:r>
              <a:rPr b="1" lang="en-IN" sz="1100" spc="-45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Space</a:t>
            </a:r>
            <a:r>
              <a:rPr b="1" lang="en-IN" sz="1100" spc="-45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Complexity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Front</a:t>
            </a:r>
            <a:r>
              <a:rPr b="1" lang="en-IN" sz="1100" spc="-34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2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End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Implementation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235"/>
              </a:spcBef>
              <a:buClr>
                <a:srgbClr val="31384d"/>
              </a:buClr>
              <a:buSzPct val="118000"/>
              <a:buFont typeface="Roboto"/>
              <a:buAutoNum type="arabicPeriod"/>
              <a:tabLst>
                <a:tab algn="l" pos="469800"/>
              </a:tabLst>
            </a:pPr>
            <a:r>
              <a:rPr b="1" lang="en-I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Gantt</a:t>
            </a:r>
            <a:r>
              <a:rPr b="1" lang="en-IN" sz="1100" spc="-6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Chart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object 5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object 6"/>
          <p:cNvSpPr/>
          <p:nvPr/>
        </p:nvSpPr>
        <p:spPr>
          <a:xfrm>
            <a:off x="4645080" y="1566360"/>
            <a:ext cx="213480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13.</a:t>
            </a:r>
            <a:r>
              <a:rPr b="1" lang="en-IN" sz="1100" spc="-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r>
              <a:rPr b="1" lang="en-IN" sz="1100" spc="-34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Cases</a:t>
            </a:r>
            <a:r>
              <a:rPr b="1" lang="en-IN" sz="1100" spc="49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14.Challenges</a:t>
            </a:r>
            <a:r>
              <a:rPr b="1" lang="en-IN" sz="1100" spc="-26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</a:t>
            </a:r>
            <a:r>
              <a:rPr b="1" lang="en-IN" sz="1100" spc="-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Solutions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2640" indent="-230040">
              <a:lnSpc>
                <a:spcPct val="100000"/>
              </a:lnSpc>
              <a:spcBef>
                <a:spcPts val="196"/>
              </a:spcBef>
              <a:buClr>
                <a:srgbClr val="000000"/>
              </a:buClr>
              <a:buFont typeface="OpenSymbol"/>
              <a:buAutoNum type="arabicPeriod" startAt="15"/>
              <a:tabLst>
                <a:tab algn="l" pos="242640"/>
              </a:tabLst>
            </a:pP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Future</a:t>
            </a:r>
            <a:r>
              <a:rPr b="1" lang="en-IN" sz="1100" spc="-65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Scope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2640" indent="-23004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OpenSymbol"/>
              <a:buAutoNum type="arabicPeriod" startAt="15"/>
              <a:tabLst>
                <a:tab algn="l" pos="242640"/>
              </a:tabLst>
            </a:pPr>
            <a:r>
              <a:rPr b="1" lang="en-IN" sz="1100" spc="-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Code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2640" indent="-23004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OpenSymbol"/>
              <a:buAutoNum type="arabicPeriod" startAt="15"/>
              <a:tabLst>
                <a:tab algn="l" pos="242640"/>
              </a:tabLst>
            </a:pP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Output</a:t>
            </a:r>
            <a:r>
              <a:rPr b="1" lang="en-IN" sz="1100" spc="-6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Screenshots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2640" indent="-230040">
              <a:lnSpc>
                <a:spcPct val="100000"/>
              </a:lnSpc>
              <a:spcBef>
                <a:spcPts val="196"/>
              </a:spcBef>
              <a:buClr>
                <a:srgbClr val="000000"/>
              </a:buClr>
              <a:buFont typeface="OpenSymbol"/>
              <a:buAutoNum type="arabicPeriod" startAt="15"/>
              <a:tabLst>
                <a:tab algn="l" pos="242640"/>
              </a:tabLst>
            </a:pP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Conclusion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2640" indent="-23004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OpenSymbol"/>
              <a:buAutoNum type="arabicPeriod" startAt="15"/>
              <a:tabLst>
                <a:tab algn="l" pos="242640"/>
              </a:tabLst>
            </a:pP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References</a:t>
            </a:r>
            <a:r>
              <a:rPr b="1" lang="en-IN" sz="1100" spc="-26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(in</a:t>
            </a:r>
            <a:r>
              <a:rPr b="1" lang="en-IN" sz="1100" spc="-26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IEEE</a:t>
            </a:r>
            <a:r>
              <a:rPr b="1" lang="en-IN" sz="1100" spc="-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11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96120"/>
            <a:ext cx="9539640" cy="5047920"/>
          </a:xfrm>
          <a:prstGeom prst="rect">
            <a:avLst/>
          </a:prstGeom>
          <a:noFill/>
          <a:ln w="0">
            <a:noFill/>
          </a:ln>
        </p:spPr>
        <p:txBody>
          <a:bodyPr lIns="0" rIns="0" tIns="173880" bIns="0" anchor="t" anchorCtr="1">
            <a:spAutoFit/>
          </a:bodyPr>
          <a:p>
            <a:pPr marL="216000"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pc="150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  </a:t>
            </a:r>
            <a:r>
              <a:rPr b="0" lang="en-IN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              </a:t>
            </a:r>
            <a:br>
              <a:rPr sz="1800"/>
            </a:br>
            <a:r>
              <a:rPr b="0" lang="en-IN" sz="24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   Introduction to Project</a:t>
            </a:r>
            <a:br>
              <a:rPr sz="2400"/>
            </a:br>
            <a:r>
              <a:rPr b="0" lang="en-IN" sz="24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br>
              <a:rPr sz="2800"/>
            </a:br>
            <a:br>
              <a:rPr sz="2800"/>
            </a:b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br>
              <a:rPr sz="1500"/>
            </a:b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The project is a Tic-Tac-Toe game developed in C code on a 3x3 board.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It features a human player, represented by 'X', playing against a computer AI, </a:t>
            </a:r>
            <a:br>
              <a:rPr sz="1500"/>
            </a:b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represented by 'O'.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The AI's decision-making is driven by the Minimax algorithm to determine the best possible move.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The game state is evaluated using a scoring system: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AI win: +10 points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500" spc="111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Player win: -10 points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5580360"/>
          </a:xfrm>
          <a:prstGeom prst="rect">
            <a:avLst/>
          </a:prstGeom>
          <a:noFill/>
          <a:ln w="0">
            <a:noFill/>
          </a:ln>
        </p:spPr>
        <p:txBody>
          <a:bodyPr lIns="0" rIns="0" tIns="173880" bIns="0" anchor="t">
            <a:spAutoFit/>
          </a:bodyPr>
          <a:p>
            <a:pPr marL="14598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br>
              <a:rPr sz="1000"/>
            </a:br>
            <a:br>
              <a:rPr sz="1000"/>
            </a:br>
            <a:br>
              <a:rPr sz="1000"/>
            </a:br>
            <a:r>
              <a:rPr b="0" lang="en-IN" sz="1000" spc="159" strike="noStrike" u="none">
                <a:solidFill>
                  <a:srgbClr val="ff0000"/>
                </a:solidFill>
                <a:effectLst/>
                <a:uFillTx/>
                <a:latin typeface="Cambria"/>
                <a:ea typeface="Microsoft YaHei"/>
              </a:rPr>
              <a:t>  </a:t>
            </a:r>
            <a:br>
              <a:rPr sz="1000"/>
            </a:br>
            <a:br>
              <a:rPr sz="1000"/>
            </a:br>
            <a:br>
              <a:rPr sz="1000"/>
            </a:br>
            <a:br>
              <a:rPr sz="1000"/>
            </a:b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5725080"/>
          </a:xfrm>
          <a:prstGeom prst="rect">
            <a:avLst/>
          </a:prstGeom>
          <a:noFill/>
          <a:ln w="0">
            <a:noFill/>
          </a:ln>
        </p:spPr>
        <p:txBody>
          <a:bodyPr lIns="0" rIns="0" tIns="173880" bIns="0" anchor="t">
            <a:spAutoFit/>
          </a:bodyPr>
          <a:p>
            <a:pPr marL="1053000" indent="-216000">
              <a:lnSpc>
                <a:spcPct val="100000"/>
              </a:lnSpc>
              <a:spcBef>
                <a:spcPts val="99"/>
              </a:spcBef>
              <a:buClr>
                <a:srgbClr val="ffff00"/>
              </a:buClr>
              <a:buFont typeface="Symbol" charset="2"/>
              <a:buChar char=""/>
            </a:pPr>
            <a:r>
              <a:rPr b="0" lang="en-IN" sz="2800" spc="13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Objectives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of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9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the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99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project</a:t>
            </a: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br>
              <a:rPr sz="2800"/>
            </a:br>
            <a:r>
              <a:rPr b="0" lang="en-IN" sz="2800" spc="99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-180000" y="76680"/>
            <a:ext cx="932364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76320" bIns="0" anchor="t">
            <a:spAutoFit/>
          </a:bodyPr>
          <a:p>
            <a:pPr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IN" sz="2800" spc="15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Requirements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of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9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the</a:t>
            </a:r>
            <a:r>
              <a:rPr b="0" lang="en-IN" sz="2800" spc="60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8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system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9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(Hardware,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505"/>
              </a:spcBef>
              <a:buNone/>
              <a:tabLst>
                <a:tab algn="l" pos="0"/>
              </a:tabLst>
            </a:pPr>
            <a:r>
              <a:rPr b="0" lang="en-IN" sz="2800" spc="91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software)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32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371880" bIns="0" anchor="t">
            <a:spAutoFit/>
          </a:bodyPr>
          <a:p>
            <a:pPr marL="8388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800" spc="181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ER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90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diagram</a:t>
            </a:r>
            <a:r>
              <a:rPr b="0" lang="en-IN" sz="2800" spc="60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of</a:t>
            </a:r>
            <a:r>
              <a:rPr b="0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9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the</a:t>
            </a:r>
            <a:r>
              <a:rPr b="0" lang="en-IN" sz="2800" spc="60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25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proposed</a:t>
            </a:r>
            <a:r>
              <a:rPr b="0" lang="en-IN" sz="2800" spc="60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7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system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180000" y="0"/>
            <a:ext cx="8963640" cy="50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371880" bIns="0" anchor="t">
            <a:spAutoFit/>
          </a:bodyPr>
          <a:p>
            <a:pPr marL="225756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800" spc="125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Front</a:t>
            </a:r>
            <a:r>
              <a:rPr b="0" lang="en-IN" sz="2800" spc="65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0" lang="en-IN" sz="2800" spc="156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End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371880" bIns="0" anchor="t">
            <a:spAutoFit/>
          </a:bodyPr>
          <a:p>
            <a:pPr marL="171504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800" spc="16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Implementation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-1080" y="360"/>
            <a:ext cx="914472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371880" bIns="0" anchor="t">
            <a:spAutoFit/>
          </a:bodyPr>
          <a:p>
            <a:pPr marL="20808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IN" sz="2800" spc="125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Gantt</a:t>
            </a:r>
            <a:r>
              <a:rPr b="1" lang="en-IN" sz="2800" spc="54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 </a:t>
            </a:r>
            <a:r>
              <a:rPr b="1" lang="en-IN" sz="2800" spc="105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Chart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object 3" descr=""/>
          <p:cNvPicPr/>
          <p:nvPr/>
        </p:nvPicPr>
        <p:blipFill>
          <a:blip r:embed="rId1"/>
          <a:stretch/>
        </p:blipFill>
        <p:spPr>
          <a:xfrm>
            <a:off x="412920" y="9612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-144000" y="0"/>
            <a:ext cx="932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371880" bIns="0" anchor="t">
            <a:spAutoFit/>
          </a:bodyPr>
          <a:p>
            <a:pPr marL="21528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800" spc="159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Conclusion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object 3" descr=""/>
          <p:cNvPicPr/>
          <p:nvPr/>
        </p:nvPicPr>
        <p:blipFill>
          <a:blip r:embed="rId1"/>
          <a:stretch/>
        </p:blipFill>
        <p:spPr>
          <a:xfrm>
            <a:off x="412920" y="8928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22760" cy="50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467720" y="200520"/>
            <a:ext cx="6765840" cy="1024560"/>
          </a:xfrm>
          <a:prstGeom prst="rect">
            <a:avLst/>
          </a:prstGeom>
          <a:noFill/>
          <a:ln w="0">
            <a:noFill/>
          </a:ln>
        </p:spPr>
        <p:txBody>
          <a:bodyPr lIns="0" rIns="0" tIns="371880" bIns="0" anchor="t">
            <a:spAutoFit/>
          </a:bodyPr>
          <a:p>
            <a:pPr marL="217476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2800" spc="125" strike="noStrike" u="none">
                <a:solidFill>
                  <a:srgbClr val="ffff00"/>
                </a:solidFill>
                <a:effectLst/>
                <a:uFillTx/>
                <a:latin typeface="Cambria"/>
              </a:rPr>
              <a:t>References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object 3" descr=""/>
          <p:cNvPicPr/>
          <p:nvPr/>
        </p:nvPicPr>
        <p:blipFill>
          <a:blip r:embed="rId1"/>
          <a:stretch/>
        </p:blipFill>
        <p:spPr>
          <a:xfrm>
            <a:off x="412920" y="89280"/>
            <a:ext cx="680400" cy="10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359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2025-10-06T13:33:33Z</dcterms:created>
  <dc:creator/>
  <dc:description/>
  <dc:language>en-IN</dc:language>
  <cp:lastModifiedBy/>
  <dcterms:modified xsi:type="dcterms:W3CDTF">2025-10-06T20:32:24Z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PDFium</vt:lpwstr>
  </property>
  <property fmtid="{D5CDD505-2E9C-101B-9397-08002B2CF9AE}" pid="4" name="LastSaved">
    <vt:filetime>2025-10-06T00:00:00Z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PDFium</vt:lpwstr>
  </property>
</Properties>
</file>