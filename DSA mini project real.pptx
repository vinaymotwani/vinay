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10.xml" ContentType="application/vnd.openxmlformats-officedocument.theme+xml"/>
  <Override PartName="/ppt/notesSlides/notesSlide12.xml" ContentType="application/vnd.openxmlformats-officedocument.presentationml.notesSlide+xml"/>
  <Override PartName="/ppt/notesSlides/_rels/notesSlide12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2A653ED-850D-479F-94B3-023430E98171}" type="slidenum"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max flow algorithm in the visualization is :-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2"/>
          <p:cNvSpPr/>
          <p:nvPr/>
        </p:nvSpPr>
        <p:spPr>
          <a:xfrm>
            <a:off x="0" y="0"/>
            <a:ext cx="9144000" cy="4397760"/>
          </a:xfrm>
          <a:custGeom>
            <a:avLst/>
            <a:gdLst>
              <a:gd name="textAreaLeft" fmla="*/ 0 w 9144000"/>
              <a:gd name="textAreaRight" fmla="*/ 9144360 w 9144000"/>
              <a:gd name="textAreaTop" fmla="*/ 0 h 4397760"/>
              <a:gd name="textAreaBottom" fmla="*/ 4398120 h 4397760"/>
            </a:gdLst>
            <a:ahLst/>
            <a:cxnLst/>
            <a:rect l="textAreaLeft" t="textAreaTop" r="textAreaRight" b="textAreaBottom"/>
            <a:pathLst>
              <a:path w="365770" h="175924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311760" y="539640"/>
            <a:ext cx="8520120" cy="128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B01C685-CCAB-4B87-807A-AEAEB6751E3E}" type="slidenum">
              <a:rPr b="0" lang="en" sz="10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&lt;number&gt;</a:t>
            </a:fld>
            <a:endParaRPr b="0" lang="en-IN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;p3"/>
          <p:cNvSpPr/>
          <p:nvPr/>
        </p:nvSpPr>
        <p:spPr>
          <a:xfrm>
            <a:off x="0" y="0"/>
            <a:ext cx="9143640" cy="12769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500760"/>
            <a:ext cx="8520120" cy="62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1505880"/>
            <a:ext cx="3999600" cy="30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832280" y="1505880"/>
            <a:ext cx="3999600" cy="30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887F7A-81F4-44AA-A0B8-3981ECC3FFD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Roboto"/>
                <a:ea typeface="Roboto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1;p4"/>
          <p:cNvSpPr/>
          <p:nvPr/>
        </p:nvSpPr>
        <p:spPr>
          <a:xfrm>
            <a:off x="0" y="0"/>
            <a:ext cx="9143640" cy="12769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500760"/>
            <a:ext cx="8520120" cy="62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8B4B8A-1635-4B86-BA87-E39F41CEC85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Roboto"/>
                <a:ea typeface="Roboto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E79E59D-76EA-4E3D-AFF9-4B5E0C22EF5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Roboto"/>
                <a:ea typeface="Roboto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27;p6"/>
          <p:cNvSpPr/>
          <p:nvPr/>
        </p:nvSpPr>
        <p:spPr>
          <a:xfrm>
            <a:off x="0" y="48240"/>
            <a:ext cx="9144000" cy="4397760"/>
          </a:xfrm>
          <a:custGeom>
            <a:avLst/>
            <a:gdLst>
              <a:gd name="textAreaLeft" fmla="*/ 0 w 9144000"/>
              <a:gd name="textAreaRight" fmla="*/ 9144360 w 9144000"/>
              <a:gd name="textAreaTop" fmla="*/ 0 h 4397760"/>
              <a:gd name="textAreaBottom" fmla="*/ 4398120 h 4397760"/>
            </a:gdLst>
            <a:ahLst/>
            <a:cxnLst/>
            <a:rect l="textAreaLeft" t="textAreaTop" r="textAreaRight" b="textAreaBottom"/>
            <a:pathLst>
              <a:path w="365770" h="175924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Google Shape;28;p6"/>
          <p:cNvSpPr/>
          <p:nvPr/>
        </p:nvSpPr>
        <p:spPr>
          <a:xfrm>
            <a:off x="0" y="0"/>
            <a:ext cx="9144000" cy="4397760"/>
          </a:xfrm>
          <a:custGeom>
            <a:avLst/>
            <a:gdLst>
              <a:gd name="textAreaLeft" fmla="*/ 0 w 9144000"/>
              <a:gd name="textAreaRight" fmla="*/ 9144360 w 9144000"/>
              <a:gd name="textAreaTop" fmla="*/ 0 h 4397760"/>
              <a:gd name="textAreaBottom" fmla="*/ 4398120 h 4397760"/>
            </a:gdLst>
            <a:ahLst/>
            <a:cxnLst/>
            <a:rect l="textAreaLeft" t="textAreaTop" r="textAreaRight" b="textAreaBottom"/>
            <a:pathLst>
              <a:path w="365770" h="175924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539640"/>
            <a:ext cx="8520120" cy="128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accent1"/>
                </a:solidFill>
                <a:effectLst/>
                <a:uFillTx/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5AE8B9-20C0-49BB-8ACD-71577C330D2E}" type="slidenum">
              <a:rPr b="0" lang="en" sz="1000" strike="noStrike" u="none">
                <a:solidFill>
                  <a:schemeClr val="accent1"/>
                </a:solidFill>
                <a:effectLst/>
                <a:uFillTx/>
                <a:latin typeface="Roboto"/>
                <a:ea typeface="Roboto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32;p7"/>
          <p:cNvSpPr/>
          <p:nvPr/>
        </p:nvSpPr>
        <p:spPr>
          <a:xfrm>
            <a:off x="0" y="0"/>
            <a:ext cx="4313520" cy="5143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Google Shape;33;p7"/>
          <p:cNvSpPr/>
          <p:nvPr/>
        </p:nvSpPr>
        <p:spPr>
          <a:xfrm>
            <a:off x="0" y="44280"/>
            <a:ext cx="4313160" cy="4398840"/>
          </a:xfrm>
          <a:custGeom>
            <a:avLst/>
            <a:gdLst>
              <a:gd name="textAreaLeft" fmla="*/ 0 w 4313160"/>
              <a:gd name="textAreaRight" fmla="*/ 4313520 w 4313160"/>
              <a:gd name="textAreaTop" fmla="*/ 0 h 4398840"/>
              <a:gd name="textAreaBottom" fmla="*/ 4399200 h 4398840"/>
            </a:gdLst>
            <a:ahLst/>
            <a:cxnLst/>
            <a:rect l="textAreaLeft" t="textAreaTop" r="textAreaRight" b="textAreaBottom"/>
            <a:pathLst>
              <a:path w="172545" h="17597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Google Shape;34;p7"/>
          <p:cNvSpPr/>
          <p:nvPr/>
        </p:nvSpPr>
        <p:spPr>
          <a:xfrm>
            <a:off x="0" y="0"/>
            <a:ext cx="4316400" cy="4395240"/>
          </a:xfrm>
          <a:custGeom>
            <a:avLst/>
            <a:gdLst>
              <a:gd name="textAreaLeft" fmla="*/ 0 w 4316400"/>
              <a:gd name="textAreaRight" fmla="*/ 4316760 w 4316400"/>
              <a:gd name="textAreaTop" fmla="*/ 0 h 4395240"/>
              <a:gd name="textAreaBottom" fmla="*/ 4395600 h 4395240"/>
            </a:gdLst>
            <a:ahLst/>
            <a:cxnLst/>
            <a:rect l="textAreaLeft" t="textAreaTop" r="textAreaRight" b="textAreaBottom"/>
            <a:pathLst>
              <a:path w="172676" h="175824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11760" y="500760"/>
            <a:ext cx="3706200" cy="25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644720" y="500760"/>
            <a:ext cx="4165920" cy="40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E90B77-51BA-47C2-9FAA-C488B2FF210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Roboto"/>
                <a:ea typeface="Roboto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39;p8"/>
          <p:cNvSpPr/>
          <p:nvPr/>
        </p:nvSpPr>
        <p:spPr>
          <a:xfrm>
            <a:off x="0" y="0"/>
            <a:ext cx="4571640" cy="5143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1400" y="500760"/>
            <a:ext cx="3704040" cy="204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879080" y="500760"/>
            <a:ext cx="3953520" cy="411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5F6274-ECFE-467C-9A3B-6023F017745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Roboto"/>
                <a:ea typeface="Roboto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45;p9"/>
          <p:cNvSpPr/>
          <p:nvPr/>
        </p:nvSpPr>
        <p:spPr>
          <a:xfrm>
            <a:off x="0" y="4368960"/>
            <a:ext cx="9143640" cy="7740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body"/>
          </p:nvPr>
        </p:nvSpPr>
        <p:spPr>
          <a:xfrm>
            <a:off x="311760" y="4521240"/>
            <a:ext cx="7979040" cy="46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DCEF79-E3DF-4A4D-A856-2E6D7319DB6B}" type="slidenum">
              <a:rPr b="0" lang="en" sz="10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11760" y="831240"/>
            <a:ext cx="5334480" cy="124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IN" sz="10000" strike="noStrike" u="none">
                <a:solidFill>
                  <a:schemeClr val="lt1"/>
                </a:solidFill>
                <a:effectLst/>
                <a:uFillTx/>
                <a:latin typeface="Merriweather"/>
                <a:ea typeface="Merriweather"/>
              </a:rPr>
              <a:t>xx%</a:t>
            </a:r>
            <a:endParaRPr b="0" lang="en-IN" sz="10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311760" y="2121480"/>
            <a:ext cx="5334480" cy="94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92CEF2-129D-4F77-B90D-B0897E5D1473}" type="slidenum">
              <a:rPr b="0" lang="en" sz="10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&lt;number&gt;</a:t>
            </a:fld>
            <a:endParaRPr b="0" lang="en-IN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56;p11" descr=""/>
          <p:cNvPicPr/>
          <p:nvPr/>
        </p:nvPicPr>
        <p:blipFill>
          <a:blip r:embed="rId1"/>
          <a:stretch/>
        </p:blipFill>
        <p:spPr>
          <a:xfrm>
            <a:off x="313560" y="410400"/>
            <a:ext cx="718560" cy="116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Google Shape;57;p11"/>
          <p:cNvSpPr/>
          <p:nvPr/>
        </p:nvSpPr>
        <p:spPr>
          <a:xfrm>
            <a:off x="914400" y="2145600"/>
            <a:ext cx="7314840" cy="85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Google Shape;58;p11"/>
          <p:cNvSpPr/>
          <p:nvPr/>
        </p:nvSpPr>
        <p:spPr>
          <a:xfrm>
            <a:off x="914400" y="2145600"/>
            <a:ext cx="7314840" cy="85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Google Shape;59;p11"/>
          <p:cNvSpPr/>
          <p:nvPr/>
        </p:nvSpPr>
        <p:spPr>
          <a:xfrm>
            <a:off x="914400" y="2145600"/>
            <a:ext cx="7314840" cy="85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Google Shape;60;p11"/>
          <p:cNvSpPr/>
          <p:nvPr/>
        </p:nvSpPr>
        <p:spPr>
          <a:xfrm>
            <a:off x="914400" y="2145600"/>
            <a:ext cx="7314840" cy="85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Google Shape;61;p11"/>
          <p:cNvSpPr/>
          <p:nvPr/>
        </p:nvSpPr>
        <p:spPr>
          <a:xfrm>
            <a:off x="914400" y="2145600"/>
            <a:ext cx="7314840" cy="85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62;p11"/>
          <p:cNvSpPr/>
          <p:nvPr/>
        </p:nvSpPr>
        <p:spPr>
          <a:xfrm>
            <a:off x="914400" y="2145600"/>
            <a:ext cx="7314840" cy="85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Google Shape;63;p11"/>
          <p:cNvSpPr/>
          <p:nvPr/>
        </p:nvSpPr>
        <p:spPr>
          <a:xfrm>
            <a:off x="914400" y="2145600"/>
            <a:ext cx="7314840" cy="85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64;p11"/>
          <p:cNvSpPr/>
          <p:nvPr/>
        </p:nvSpPr>
        <p:spPr>
          <a:xfrm>
            <a:off x="4313160" y="1965960"/>
            <a:ext cx="4466520" cy="853200"/>
          </a:xfrm>
          <a:prstGeom prst="rect">
            <a:avLst/>
          </a:prstGeom>
          <a:noFill/>
          <a:ln w="9525">
            <a:solidFill>
              <a:srgbClr val="98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Mentor Name: Kajal jewani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Google Shape;65;p11"/>
          <p:cNvSpPr/>
          <p:nvPr/>
        </p:nvSpPr>
        <p:spPr>
          <a:xfrm>
            <a:off x="1184760" y="1139760"/>
            <a:ext cx="761508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7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Title: </a:t>
            </a:r>
            <a:endParaRPr b="0" lang="en-IN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66;p11"/>
          <p:cNvSpPr/>
          <p:nvPr/>
        </p:nvSpPr>
        <p:spPr>
          <a:xfrm>
            <a:off x="313560" y="1895400"/>
            <a:ext cx="3760920" cy="1037160"/>
          </a:xfrm>
          <a:prstGeom prst="rect">
            <a:avLst/>
          </a:prstGeom>
          <a:noFill/>
          <a:ln w="9525">
            <a:solidFill>
              <a:srgbClr val="98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980000"/>
                </a:solidFill>
                <a:effectLst/>
                <a:uFillTx/>
                <a:latin typeface="Arial"/>
                <a:ea typeface="Arial"/>
              </a:rPr>
              <a:t>Domain: Data structure &amp; algorithms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rgbClr val="980000"/>
                </a:solidFill>
                <a:effectLst/>
                <a:uFillTx/>
                <a:latin typeface="Arial"/>
                <a:ea typeface="Arial"/>
              </a:rPr>
              <a:t>Member: Vinay motwani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67;p11"/>
          <p:cNvSpPr/>
          <p:nvPr/>
        </p:nvSpPr>
        <p:spPr>
          <a:xfrm>
            <a:off x="1204560" y="185040"/>
            <a:ext cx="7575120" cy="16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Vivekanand Education Society’s Institute Of Technology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Department Of Information Technology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828800" indent="457200">
              <a:lnSpc>
                <a:spcPct val="100000"/>
              </a:lnSpc>
              <a:tabLst>
                <a:tab algn="l" pos="0"/>
              </a:tabLst>
            </a:pPr>
            <a:r>
              <a:rPr b="0" lang="en" sz="19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DSA mini Project </a:t>
            </a:r>
            <a:endParaRPr b="0" lang="en-IN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828800" indent="457200">
              <a:lnSpc>
                <a:spcPct val="100000"/>
              </a:lnSpc>
              <a:tabLst>
                <a:tab algn="l" pos="0"/>
              </a:tabLst>
            </a:pPr>
            <a:r>
              <a:rPr b="0" lang="en" sz="19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A.Y. 2025-26</a:t>
            </a:r>
            <a:endParaRPr b="0" lang="en-IN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Sustainability Goal :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11760" y="539640"/>
            <a:ext cx="8520120" cy="128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endParaRPr b="0" lang="en-IN" sz="3600" strike="noStrike" u="none">
              <a:solidFill>
                <a:schemeClr val="accent1"/>
              </a:solidFill>
              <a:effectLst/>
              <a:uFillTx/>
              <a:latin typeface="Merriweather"/>
              <a:ea typeface="Merriweather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311760" y="1878480"/>
            <a:ext cx="42422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buNone/>
            </a:pPr>
            <a:endParaRPr b="0" lang="en-IN" sz="1600" strike="noStrike" u="none">
              <a:solidFill>
                <a:schemeClr val="lt2"/>
              </a:solidFill>
              <a:effectLst/>
              <a:uFillTx/>
              <a:latin typeface="Roboto"/>
              <a:ea typeface="Roboto"/>
            </a:endParaRPr>
          </a:p>
        </p:txBody>
      </p:sp>
      <p:pic>
        <p:nvPicPr>
          <p:cNvPr id="54" name="Google Shape;74;p12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11760" y="364680"/>
            <a:ext cx="8520120" cy="62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trike="noStrike" u="none">
                <a:solidFill>
                  <a:srgbClr val="ffff00"/>
                </a:solidFill>
                <a:effectLst/>
                <a:uFillTx/>
                <a:latin typeface="Merriweather"/>
                <a:ea typeface="Merriweather"/>
              </a:rPr>
              <a:t>Content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311760" y="1291320"/>
            <a:ext cx="4130280" cy="385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11040">
              <a:lnSpc>
                <a:spcPct val="115000"/>
              </a:lnSpc>
              <a:buClr>
                <a:srgbClr val="31394d"/>
              </a:buClr>
              <a:buFont typeface="Roboto"/>
              <a:buAutoNum type="arabicPeriod"/>
            </a:pPr>
            <a:r>
              <a:rPr b="1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Introduction to the Project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31394d"/>
              </a:buClr>
              <a:buFont typeface="Roboto"/>
              <a:buAutoNum type="arabicPeriod"/>
            </a:pPr>
            <a:r>
              <a:rPr b="1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Problem Statement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31394d"/>
              </a:buClr>
              <a:buFont typeface="Roboto"/>
              <a:buAutoNum type="arabicPeriod"/>
            </a:pPr>
            <a:r>
              <a:rPr b="1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Objectives of the Project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31394d"/>
              </a:buClr>
              <a:buFont typeface="Roboto"/>
              <a:buAutoNum type="arabicPeriod"/>
            </a:pPr>
            <a:r>
              <a:rPr b="1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Scope of the Project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31394d"/>
              </a:buClr>
              <a:buFont typeface="Roboto"/>
              <a:buAutoNum type="arabicPeriod"/>
            </a:pPr>
            <a:r>
              <a:rPr b="1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Requirements of the System (Hardware, Software)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31394d"/>
              </a:buClr>
              <a:buFont typeface="Roboto"/>
              <a:buAutoNum type="arabicPeriod"/>
            </a:pPr>
            <a:r>
              <a:rPr b="1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ER Diagram of the Proposed System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31394d"/>
              </a:buClr>
              <a:buFont typeface="Roboto"/>
              <a:buAutoNum type="arabicPeriod"/>
            </a:pPr>
            <a:r>
              <a:rPr b="1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Data Structure &amp; Concepts Used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31394d"/>
              </a:buClr>
              <a:buFont typeface="Roboto"/>
              <a:buAutoNum type="arabicPeriod"/>
            </a:pPr>
            <a:r>
              <a:rPr b="1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Algorithm Explanation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31394d"/>
              </a:buClr>
              <a:buFont typeface="Roboto"/>
              <a:buAutoNum type="arabicPeriod"/>
            </a:pPr>
            <a:r>
              <a:rPr b="1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Time and Space Complexity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31394d"/>
              </a:buClr>
              <a:buFont typeface="Roboto"/>
              <a:buAutoNum type="arabicPeriod"/>
            </a:pPr>
            <a:r>
              <a:rPr b="1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Front End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31394d"/>
              </a:buClr>
              <a:buFont typeface="Roboto"/>
              <a:buAutoNum type="arabicPeriod"/>
            </a:pPr>
            <a:r>
              <a:rPr b="1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Implementation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31394d"/>
              </a:buClr>
              <a:buFont typeface="Roboto"/>
              <a:buAutoNum type="arabicPeriod"/>
            </a:pPr>
            <a:r>
              <a:rPr b="1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Gantt Chart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5000"/>
              </a:lnSpc>
              <a:buNone/>
              <a:tabLst>
                <a:tab algn="l" pos="0"/>
              </a:tabLst>
            </a:pP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None/>
              <a:tabLst>
                <a:tab algn="l" pos="0"/>
              </a:tabLst>
            </a:pP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5000"/>
              </a:lnSpc>
              <a:buNone/>
              <a:tabLst>
                <a:tab algn="l" pos="0"/>
              </a:tabLst>
            </a:pP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Google Shape;81;p13" descr=""/>
          <p:cNvPicPr/>
          <p:nvPr/>
        </p:nvPicPr>
        <p:blipFill>
          <a:blip r:embed="rId1"/>
          <a:stretch/>
        </p:blipFill>
        <p:spPr>
          <a:xfrm>
            <a:off x="412920" y="96120"/>
            <a:ext cx="680760" cy="109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Google Shape;82;p13"/>
          <p:cNvSpPr/>
          <p:nvPr/>
        </p:nvSpPr>
        <p:spPr>
          <a:xfrm>
            <a:off x="4572000" y="1523880"/>
            <a:ext cx="2999520" cy="15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13. Test Cases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14.Challenges and Solutions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15. Future Scope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16. Code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17. Output Screenshots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18. Conclusion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19. References (in IEEE Format)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11760" y="302760"/>
            <a:ext cx="8520120" cy="62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trike="noStrike" u="none">
                <a:solidFill>
                  <a:srgbClr val="ffff00"/>
                </a:solidFill>
                <a:effectLst/>
                <a:uFillTx/>
                <a:latin typeface="Merriweather"/>
                <a:ea typeface="Merriweather"/>
              </a:rPr>
              <a:t>Introduction to Project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311760" y="1529280"/>
            <a:ext cx="8520120" cy="344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r Rates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Google Shape;89;p14"/>
          <p:cNvSpPr/>
          <p:nvPr/>
        </p:nvSpPr>
        <p:spPr>
          <a:xfrm>
            <a:off x="1369800" y="3731760"/>
            <a:ext cx="709992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79560" y="1344960"/>
            <a:ext cx="8984520" cy="381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just">
              <a:lnSpc>
                <a:spcPct val="115000"/>
              </a:lnSpc>
              <a:buNone/>
              <a:tabLst>
                <a:tab algn="l" pos="0"/>
              </a:tabLst>
            </a:pPr>
            <a:endParaRPr b="0" lang="en-IN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15000"/>
              </a:lnSpc>
              <a:buNone/>
              <a:tabLst>
                <a:tab algn="l" pos="0"/>
              </a:tabLst>
            </a:pPr>
            <a:endParaRPr b="0" lang="en-IN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15000"/>
              </a:lnSpc>
              <a:buNone/>
              <a:tabLst>
                <a:tab algn="l" pos="0"/>
              </a:tabLst>
            </a:pPr>
            <a:endParaRPr b="0" lang="en-IN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15000"/>
              </a:lnSpc>
              <a:buNone/>
              <a:tabLst>
                <a:tab algn="l" pos="0"/>
              </a:tabLst>
            </a:pPr>
            <a:endParaRPr b="0" lang="en-IN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en-IN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15000"/>
              </a:lnSpc>
              <a:buNone/>
              <a:tabLst>
                <a:tab algn="l" pos="0"/>
              </a:tabLst>
            </a:pPr>
            <a:endParaRPr b="0" lang="en-IN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15000"/>
              </a:lnSpc>
              <a:buNone/>
              <a:tabLst>
                <a:tab algn="l" pos="0"/>
              </a:tabLst>
            </a:pPr>
            <a:endParaRPr b="0" lang="en-IN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Google Shape;91;p14" descr=""/>
          <p:cNvPicPr/>
          <p:nvPr/>
        </p:nvPicPr>
        <p:blipFill>
          <a:blip r:embed="rId1"/>
          <a:stretch/>
        </p:blipFill>
        <p:spPr>
          <a:xfrm>
            <a:off x="412920" y="96120"/>
            <a:ext cx="680760" cy="109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2"/>
          <a:stretch/>
        </p:blipFill>
        <p:spPr>
          <a:xfrm>
            <a:off x="0" y="-54000"/>
            <a:ext cx="9091800" cy="5195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11760" y="302760"/>
            <a:ext cx="8520120" cy="62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2800" strike="noStrike" u="none">
                <a:solidFill>
                  <a:srgbClr val="ffff00"/>
                </a:solidFill>
                <a:effectLst/>
                <a:uFillTx/>
                <a:latin typeface="Merriweather"/>
                <a:ea typeface="Merriweather"/>
              </a:rPr>
              <a:t>Problem Statement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311760" y="1529280"/>
            <a:ext cx="8520120" cy="344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r Rates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98;p15"/>
          <p:cNvSpPr/>
          <p:nvPr/>
        </p:nvSpPr>
        <p:spPr>
          <a:xfrm>
            <a:off x="1369800" y="3731760"/>
            <a:ext cx="709992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79560" y="1344960"/>
            <a:ext cx="8984520" cy="381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Google Shape;100;p15" descr=""/>
          <p:cNvPicPr/>
          <p:nvPr/>
        </p:nvPicPr>
        <p:blipFill>
          <a:blip r:embed="rId1"/>
          <a:stretch/>
        </p:blipFill>
        <p:spPr>
          <a:xfrm>
            <a:off x="412920" y="96120"/>
            <a:ext cx="680760" cy="109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" descr=""/>
          <p:cNvPicPr/>
          <p:nvPr/>
        </p:nvPicPr>
        <p:blipFill>
          <a:blip r:embed="rId2"/>
          <a:stretch/>
        </p:blipFill>
        <p:spPr>
          <a:xfrm rot="21571200">
            <a:off x="-121320" y="-156960"/>
            <a:ext cx="9324360" cy="5372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11760" y="302760"/>
            <a:ext cx="8520120" cy="62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2800" strike="noStrike" u="none">
                <a:solidFill>
                  <a:srgbClr val="ffff00"/>
                </a:solidFill>
                <a:effectLst/>
                <a:uFillTx/>
                <a:latin typeface="Merriweather"/>
                <a:ea typeface="Merriweather"/>
              </a:rPr>
              <a:t>Objectives of the project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311760" y="1529280"/>
            <a:ext cx="8520120" cy="344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r  Rates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107;p16"/>
          <p:cNvSpPr/>
          <p:nvPr/>
        </p:nvSpPr>
        <p:spPr>
          <a:xfrm>
            <a:off x="1369800" y="3731760"/>
            <a:ext cx="709992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Google Shape;108;p16" descr=""/>
          <p:cNvPicPr/>
          <p:nvPr/>
        </p:nvPicPr>
        <p:blipFill>
          <a:blip r:embed="rId1"/>
          <a:stretch/>
        </p:blipFill>
        <p:spPr>
          <a:xfrm>
            <a:off x="412920" y="96120"/>
            <a:ext cx="680760" cy="109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"/>
          <p:cNvSpPr txBox="1"/>
          <p:nvPr/>
        </p:nvSpPr>
        <p:spPr>
          <a:xfrm>
            <a:off x="360000" y="1440000"/>
            <a:ext cx="8640000" cy="40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Develop an AI that is unbeatable in Tic-Tac-Toe[cite: 178]. 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" descr=""/>
          <p:cNvPicPr/>
          <p:nvPr/>
        </p:nvPicPr>
        <p:blipFill>
          <a:blip r:embed="rId2"/>
          <a:stretch/>
        </p:blipFill>
        <p:spPr>
          <a:xfrm>
            <a:off x="0" y="1980000"/>
            <a:ext cx="8454960" cy="306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311760" y="222480"/>
            <a:ext cx="8738640" cy="90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2800" strike="noStrike" u="none">
                <a:solidFill>
                  <a:srgbClr val="ffff00"/>
                </a:solidFill>
                <a:effectLst/>
                <a:uFillTx/>
                <a:latin typeface="Merriweather"/>
                <a:ea typeface="Merriweather"/>
              </a:rPr>
              <a:t>    Requirements of the system (Hardware, software)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114;p17"/>
          <p:cNvSpPr/>
          <p:nvPr/>
        </p:nvSpPr>
        <p:spPr>
          <a:xfrm>
            <a:off x="230040" y="1305000"/>
            <a:ext cx="8397360" cy="352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800" strike="noStrike" u="none">
                <a:solidFill>
                  <a:schemeClr val="lt1"/>
                </a:solidFill>
                <a:effectLst/>
                <a:uFillTx/>
                <a:latin typeface="Merriweather"/>
                <a:ea typeface="Merriweather"/>
              </a:rPr>
              <a:t>lem Statement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800" strike="noStrike" u="none">
                <a:solidFill>
                  <a:schemeClr val="lt1"/>
                </a:solidFill>
                <a:effectLst/>
                <a:uFillTx/>
                <a:latin typeface="Merriweather"/>
                <a:ea typeface="Merriweather"/>
              </a:rPr>
              <a:t>Problem Statement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Google Shape;115;p17" descr=""/>
          <p:cNvPicPr/>
          <p:nvPr/>
        </p:nvPicPr>
        <p:blipFill>
          <a:blip r:embed="rId1"/>
          <a:stretch/>
        </p:blipFill>
        <p:spPr>
          <a:xfrm>
            <a:off x="412920" y="96120"/>
            <a:ext cx="680760" cy="109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" descr=""/>
          <p:cNvPicPr/>
          <p:nvPr/>
        </p:nvPicPr>
        <p:blipFill>
          <a:blip r:embed="rId2"/>
          <a:stretch/>
        </p:blipFill>
        <p:spPr>
          <a:xfrm>
            <a:off x="90720" y="-2160"/>
            <a:ext cx="908928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311760" y="500760"/>
            <a:ext cx="8520120" cy="62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2800" strike="noStrike" u="none">
                <a:solidFill>
                  <a:srgbClr val="ffff00"/>
                </a:solidFill>
                <a:effectLst/>
                <a:uFillTx/>
                <a:latin typeface="Merriweather"/>
                <a:ea typeface="Merriweather"/>
              </a:rPr>
              <a:t>ER diagram of the proposed system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21;p18"/>
          <p:cNvSpPr/>
          <p:nvPr/>
        </p:nvSpPr>
        <p:spPr>
          <a:xfrm>
            <a:off x="405000" y="1773720"/>
            <a:ext cx="8426880" cy="31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Google Shape;122;p18" descr=""/>
          <p:cNvPicPr/>
          <p:nvPr/>
        </p:nvPicPr>
        <p:blipFill>
          <a:blip r:embed="rId1"/>
          <a:stretch/>
        </p:blipFill>
        <p:spPr>
          <a:xfrm>
            <a:off x="412920" y="96120"/>
            <a:ext cx="680760" cy="109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" descr=""/>
          <p:cNvPicPr/>
          <p:nvPr/>
        </p:nvPicPr>
        <p:blipFill>
          <a:blip r:embed="rId2"/>
          <a:stretch/>
        </p:blipFill>
        <p:spPr>
          <a:xfrm>
            <a:off x="900000" y="1514880"/>
            <a:ext cx="7773120" cy="2985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11760" y="500760"/>
            <a:ext cx="8520120" cy="62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trike="noStrike" u="none">
                <a:solidFill>
                  <a:srgbClr val="ffff00"/>
                </a:solidFill>
                <a:effectLst/>
                <a:uFillTx/>
                <a:latin typeface="Merriweather"/>
                <a:ea typeface="Merriweather"/>
              </a:rPr>
              <a:t>Front End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Google Shape;128;p19" descr=""/>
          <p:cNvPicPr/>
          <p:nvPr/>
        </p:nvPicPr>
        <p:blipFill>
          <a:blip r:embed="rId1"/>
          <a:stretch/>
        </p:blipFill>
        <p:spPr>
          <a:xfrm>
            <a:off x="412920" y="96120"/>
            <a:ext cx="680760" cy="109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" descr=""/>
          <p:cNvPicPr/>
          <p:nvPr/>
        </p:nvPicPr>
        <p:blipFill>
          <a:blip r:embed="rId2"/>
          <a:stretch/>
        </p:blipFill>
        <p:spPr>
          <a:xfrm>
            <a:off x="0" y="1260000"/>
            <a:ext cx="3060000" cy="388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" descr=""/>
          <p:cNvPicPr/>
          <p:nvPr/>
        </p:nvPicPr>
        <p:blipFill>
          <a:blip r:embed="rId3"/>
          <a:srcRect l="0" t="0" r="30738" b="0"/>
          <a:stretch/>
        </p:blipFill>
        <p:spPr>
          <a:xfrm>
            <a:off x="3060000" y="1260000"/>
            <a:ext cx="2519640" cy="378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" descr=""/>
          <p:cNvPicPr/>
          <p:nvPr/>
        </p:nvPicPr>
        <p:blipFill>
          <a:blip r:embed="rId4"/>
          <a:srcRect l="0" t="0" r="18187" b="0"/>
          <a:stretch/>
        </p:blipFill>
        <p:spPr>
          <a:xfrm>
            <a:off x="5400000" y="1260000"/>
            <a:ext cx="3240000" cy="36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11760" y="500760"/>
            <a:ext cx="8520120" cy="62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40000" cy="503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" descr=""/>
          <p:cNvPicPr/>
          <p:nvPr/>
        </p:nvPicPr>
        <p:blipFill>
          <a:blip r:embed="rId2"/>
          <a:srcRect l="0" t="0" r="39128" b="0"/>
          <a:stretch/>
        </p:blipFill>
        <p:spPr>
          <a:xfrm>
            <a:off x="3240000" y="0"/>
            <a:ext cx="2700000" cy="514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" descr=""/>
          <p:cNvPicPr/>
          <p:nvPr/>
        </p:nvPicPr>
        <p:blipFill>
          <a:blip r:embed="rId3"/>
          <a:stretch/>
        </p:blipFill>
        <p:spPr>
          <a:xfrm>
            <a:off x="5940000" y="0"/>
            <a:ext cx="3060000" cy="376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11760" y="500760"/>
            <a:ext cx="8520120" cy="62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2800" strike="noStrike" u="none">
                <a:solidFill>
                  <a:srgbClr val="ffff00"/>
                </a:solidFill>
                <a:effectLst/>
                <a:uFillTx/>
                <a:latin typeface="Merriweather"/>
                <a:ea typeface="Merriweather"/>
              </a:rPr>
              <a:t>Implementation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Google Shape;134;p20" descr=""/>
          <p:cNvPicPr/>
          <p:nvPr/>
        </p:nvPicPr>
        <p:blipFill>
          <a:blip r:embed="rId1"/>
          <a:stretch/>
        </p:blipFill>
        <p:spPr>
          <a:xfrm>
            <a:off x="412920" y="96120"/>
            <a:ext cx="680760" cy="109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" descr=""/>
          <p:cNvPicPr/>
          <p:nvPr/>
        </p:nvPicPr>
        <p:blipFill>
          <a:blip r:embed="rId2"/>
          <a:srcRect l="0" t="0" r="0" b="12074"/>
          <a:stretch/>
        </p:blipFill>
        <p:spPr>
          <a:xfrm>
            <a:off x="360000" y="1338840"/>
            <a:ext cx="3219480" cy="2620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" descr=""/>
          <p:cNvPicPr/>
          <p:nvPr/>
        </p:nvPicPr>
        <p:blipFill>
          <a:blip r:embed="rId3"/>
          <a:stretch/>
        </p:blipFill>
        <p:spPr>
          <a:xfrm>
            <a:off x="3780000" y="1620000"/>
            <a:ext cx="2628720" cy="1361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311760" y="500760"/>
            <a:ext cx="8520120" cy="62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2800" strike="noStrike" u="none">
                <a:solidFill>
                  <a:srgbClr val="ffff00"/>
                </a:solidFill>
                <a:effectLst/>
                <a:uFillTx/>
                <a:latin typeface="Merriweather"/>
                <a:ea typeface="Merriweather"/>
              </a:rPr>
              <a:t>Gantt Chart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Google Shape;140;p21" descr=""/>
          <p:cNvPicPr/>
          <p:nvPr/>
        </p:nvPicPr>
        <p:blipFill>
          <a:blip r:embed="rId1"/>
          <a:stretch/>
        </p:blipFill>
        <p:spPr>
          <a:xfrm>
            <a:off x="412920" y="96120"/>
            <a:ext cx="680760" cy="109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" descr=""/>
          <p:cNvPicPr/>
          <p:nvPr/>
        </p:nvPicPr>
        <p:blipFill>
          <a:blip r:embed="rId2"/>
          <a:stretch/>
        </p:blipFill>
        <p:spPr>
          <a:xfrm>
            <a:off x="-36000" y="0"/>
            <a:ext cx="9180000" cy="522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311760" y="500760"/>
            <a:ext cx="8520120" cy="62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trike="noStrike" u="none">
                <a:solidFill>
                  <a:srgbClr val="ffff00"/>
                </a:solidFill>
                <a:effectLst/>
                <a:uFillTx/>
                <a:latin typeface="Merriweather"/>
                <a:ea typeface="Merriweather"/>
              </a:rPr>
              <a:t>Conclusion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46;p22"/>
          <p:cNvSpPr/>
          <p:nvPr/>
        </p:nvSpPr>
        <p:spPr>
          <a:xfrm>
            <a:off x="3274200" y="1050480"/>
            <a:ext cx="6717600" cy="78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147;p22" descr=""/>
          <p:cNvPicPr/>
          <p:nvPr/>
        </p:nvPicPr>
        <p:blipFill>
          <a:blip r:embed="rId1"/>
          <a:stretch/>
        </p:blipFill>
        <p:spPr>
          <a:xfrm>
            <a:off x="412920" y="89280"/>
            <a:ext cx="680760" cy="109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" descr=""/>
          <p:cNvPicPr/>
          <p:nvPr/>
        </p:nvPicPr>
        <p:blipFill>
          <a:blip r:embed="rId2"/>
          <a:stretch/>
        </p:blipFill>
        <p:spPr>
          <a:xfrm>
            <a:off x="0" y="0"/>
            <a:ext cx="9180000" cy="522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11760" y="500760"/>
            <a:ext cx="8520120" cy="62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trike="noStrike" u="none">
                <a:solidFill>
                  <a:srgbClr val="ffff00"/>
                </a:solidFill>
                <a:effectLst/>
                <a:uFillTx/>
                <a:latin typeface="Merriweather"/>
                <a:ea typeface="Merriweather"/>
              </a:rPr>
              <a:t>References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Google Shape;153;p23" descr=""/>
          <p:cNvPicPr/>
          <p:nvPr/>
        </p:nvPicPr>
        <p:blipFill>
          <a:blip r:embed="rId1"/>
          <a:stretch/>
        </p:blipFill>
        <p:spPr>
          <a:xfrm>
            <a:off x="412920" y="89280"/>
            <a:ext cx="680760" cy="109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rcRect l="0" t="27539" r="0" b="0"/>
          <a:stretch/>
        </p:blipFill>
        <p:spPr>
          <a:xfrm>
            <a:off x="0" y="1260000"/>
            <a:ext cx="9000000" cy="36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LibreOffice/25.2.5.2$Windows_X86_64 LibreOffice_project/03d19516eb2e1dd5d4ccd751a0d6f35f35e08022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dcterms:modified xsi:type="dcterms:W3CDTF">2025-10-12T15:51:39Z</dcterms:modified>
  <cp:revision>3</cp:revision>
  <dc:subject/>
  <dc:title/>
</cp:coreProperties>
</file>